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18"/>
  </p:notesMasterIdLst>
  <p:sldIdLst>
    <p:sldId id="274" r:id="rId2"/>
    <p:sldId id="1937" r:id="rId3"/>
    <p:sldId id="1938" r:id="rId4"/>
    <p:sldId id="1939" r:id="rId5"/>
    <p:sldId id="1940" r:id="rId6"/>
    <p:sldId id="275" r:id="rId7"/>
    <p:sldId id="264" r:id="rId8"/>
    <p:sldId id="276" r:id="rId9"/>
    <p:sldId id="266" r:id="rId10"/>
    <p:sldId id="277" r:id="rId11"/>
    <p:sldId id="268" r:id="rId12"/>
    <p:sldId id="278" r:id="rId13"/>
    <p:sldId id="270" r:id="rId14"/>
    <p:sldId id="279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C19DCC-9AE8-4D9A-BCFF-14B115157762}" v="2" dt="2022-02-21T11:40:49.4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85" autoAdjust="0"/>
    <p:restoredTop sz="93552" autoAdjust="0"/>
  </p:normalViewPr>
  <p:slideViewPr>
    <p:cSldViewPr snapToGrid="0">
      <p:cViewPr varScale="1">
        <p:scale>
          <a:sx n="95" d="100"/>
          <a:sy n="95" d="100"/>
        </p:scale>
        <p:origin x="13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86EC94-6306-41BD-B72A-9DAEB4A702A5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15783F-C3C4-40CC-AB84-713E5125B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87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5FE4-AF85-4C36-9BCE-D445D8E1E9D4}" type="datetimeFigureOut">
              <a:rPr lang="en-IL" smtClean="0"/>
              <a:t>18/03/2025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1BBA-C4B5-44D8-818A-881A3DC5450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13195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5FE4-AF85-4C36-9BCE-D445D8E1E9D4}" type="datetimeFigureOut">
              <a:rPr lang="en-IL" smtClean="0"/>
              <a:t>18/03/2025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1BBA-C4B5-44D8-818A-881A3DC5450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06214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5FE4-AF85-4C36-9BCE-D445D8E1E9D4}" type="datetimeFigureOut">
              <a:rPr lang="en-IL" smtClean="0"/>
              <a:t>18/03/2025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1BBA-C4B5-44D8-818A-881A3DC5450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39708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5FE4-AF85-4C36-9BCE-D445D8E1E9D4}" type="datetimeFigureOut">
              <a:rPr lang="en-IL" smtClean="0"/>
              <a:t>18/03/2025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1BBA-C4B5-44D8-818A-881A3DC5450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84431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5FE4-AF85-4C36-9BCE-D445D8E1E9D4}" type="datetimeFigureOut">
              <a:rPr lang="en-IL" smtClean="0"/>
              <a:t>18/03/2025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1BBA-C4B5-44D8-818A-881A3DC5450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92708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5FE4-AF85-4C36-9BCE-D445D8E1E9D4}" type="datetimeFigureOut">
              <a:rPr lang="en-IL" smtClean="0"/>
              <a:t>18/03/2025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1BBA-C4B5-44D8-818A-881A3DC5450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46058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5FE4-AF85-4C36-9BCE-D445D8E1E9D4}" type="datetimeFigureOut">
              <a:rPr lang="en-IL" smtClean="0"/>
              <a:t>18/03/2025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1BBA-C4B5-44D8-818A-881A3DC5450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30218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5FE4-AF85-4C36-9BCE-D445D8E1E9D4}" type="datetimeFigureOut">
              <a:rPr lang="en-IL" smtClean="0"/>
              <a:t>18/03/2025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1BBA-C4B5-44D8-818A-881A3DC5450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69144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5FE4-AF85-4C36-9BCE-D445D8E1E9D4}" type="datetimeFigureOut">
              <a:rPr lang="en-IL" smtClean="0"/>
              <a:t>18/03/2025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1BBA-C4B5-44D8-818A-881A3DC5450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38846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5FE4-AF85-4C36-9BCE-D445D8E1E9D4}" type="datetimeFigureOut">
              <a:rPr lang="en-IL" smtClean="0"/>
              <a:t>18/03/2025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1BBA-C4B5-44D8-818A-881A3DC5450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58353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25FE4-AF85-4C36-9BCE-D445D8E1E9D4}" type="datetimeFigureOut">
              <a:rPr lang="en-IL" smtClean="0"/>
              <a:t>18/03/2025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1BBA-C4B5-44D8-818A-881A3DC5450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80785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881747"/>
            <a:ext cx="12192000" cy="54746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240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1171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055" y="0"/>
            <a:ext cx="11101891" cy="1171576"/>
          </a:xfrm>
        </p:spPr>
        <p:txBody>
          <a:bodyPr>
            <a:normAutofit/>
          </a:bodyPr>
          <a:lstStyle>
            <a:lvl1pPr algn="l" rtl="0">
              <a:defRPr sz="3733" b="1">
                <a:solidFill>
                  <a:schemeClr val="bg1"/>
                </a:solidFill>
                <a:latin typeface="Century Gothic" panose="020B0502020202020204" pitchFamily="34" charset="0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545055" y="1473201"/>
            <a:ext cx="11101891" cy="4249868"/>
          </a:xfrm>
          <a:noFill/>
        </p:spPr>
        <p:txBody>
          <a:bodyPr lIns="216000" tIns="180000" rIns="216000" bIns="216000">
            <a:noAutofit/>
          </a:bodyPr>
          <a:lstStyle>
            <a:lvl1pPr marL="304792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»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74121" indent="-173562" algn="l" rtl="0">
              <a:lnSpc>
                <a:spcPct val="100000"/>
              </a:lnSpc>
              <a:buClr>
                <a:schemeClr val="tx1"/>
              </a:buClr>
              <a:buSzPct val="100000"/>
              <a:buFont typeface="Calibri" panose="020F0502020204030204" pitchFamily="34" charset="0"/>
              <a:buChar char="­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1523962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2133547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2743131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6351"/>
            <a:ext cx="12192000" cy="505479"/>
          </a:xfrm>
          <a:prstGeom prst="rect">
            <a:avLst/>
          </a:prstGeom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5055" y="6356360"/>
            <a:ext cx="1626643" cy="487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B675EBE-C165-4FEE-A5A9-4C19F3CB68BE}" type="datetimeFigureOut">
              <a:rPr lang="he-IL" smtClean="0"/>
              <a:t>י"ח/אדר/תשפ"ה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4"/>
          </p:nvPr>
        </p:nvSpPr>
        <p:spPr>
          <a:xfrm>
            <a:off x="9448800" y="6453648"/>
            <a:ext cx="2743200" cy="365125"/>
          </a:xfrm>
        </p:spPr>
        <p:txBody>
          <a:bodyPr/>
          <a:lstStyle/>
          <a:p>
            <a:fld id="{1D467F50-F071-4455-AF75-5A95D8253A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89590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881747"/>
            <a:ext cx="12192000" cy="54746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240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1171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055" y="0"/>
            <a:ext cx="11101891" cy="1171576"/>
          </a:xfrm>
        </p:spPr>
        <p:txBody>
          <a:bodyPr>
            <a:normAutofit/>
          </a:bodyPr>
          <a:lstStyle>
            <a:lvl1pPr algn="l" rtl="0">
              <a:defRPr sz="3733" b="1">
                <a:solidFill>
                  <a:schemeClr val="bg1"/>
                </a:solidFill>
                <a:latin typeface="Century Gothic" panose="020B0502020202020204" pitchFamily="34" charset="0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545055" y="1473201"/>
            <a:ext cx="11101891" cy="4249868"/>
          </a:xfrm>
          <a:noFill/>
        </p:spPr>
        <p:txBody>
          <a:bodyPr lIns="216000" tIns="180000" rIns="216000" bIns="216000">
            <a:noAutofit/>
          </a:bodyPr>
          <a:lstStyle>
            <a:lvl1pPr marL="304792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»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74121" indent="-173562" algn="l" rtl="0">
              <a:lnSpc>
                <a:spcPct val="100000"/>
              </a:lnSpc>
              <a:buClr>
                <a:schemeClr val="tx1"/>
              </a:buClr>
              <a:buSzPct val="100000"/>
              <a:buFont typeface="Calibri" panose="020F0502020204030204" pitchFamily="34" charset="0"/>
              <a:buChar char="­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1523962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2133547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2743131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6351"/>
            <a:ext cx="12192000" cy="505479"/>
          </a:xfrm>
          <a:prstGeom prst="rect">
            <a:avLst/>
          </a:prstGeom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5055" y="6356360"/>
            <a:ext cx="1626643" cy="487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B675EBE-C165-4FEE-A5A9-4C19F3CB68BE}" type="datetimeFigureOut">
              <a:rPr lang="he-IL" smtClean="0"/>
              <a:t>י"ח/אדר/תשפ"ה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4"/>
          </p:nvPr>
        </p:nvSpPr>
        <p:spPr>
          <a:xfrm>
            <a:off x="9448800" y="6453648"/>
            <a:ext cx="2743200" cy="365125"/>
          </a:xfrm>
        </p:spPr>
        <p:txBody>
          <a:bodyPr/>
          <a:lstStyle/>
          <a:p>
            <a:fld id="{1D467F50-F071-4455-AF75-5A95D8253A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3378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881747"/>
            <a:ext cx="12192000" cy="54746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240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1171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055" y="0"/>
            <a:ext cx="11101891" cy="1171576"/>
          </a:xfrm>
        </p:spPr>
        <p:txBody>
          <a:bodyPr>
            <a:normAutofit/>
          </a:bodyPr>
          <a:lstStyle>
            <a:lvl1pPr algn="l" rtl="0">
              <a:defRPr sz="3733" b="1">
                <a:solidFill>
                  <a:schemeClr val="bg1"/>
                </a:solidFill>
                <a:latin typeface="Century Gothic" panose="020B0502020202020204" pitchFamily="34" charset="0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545055" y="1473201"/>
            <a:ext cx="11101891" cy="4249868"/>
          </a:xfrm>
          <a:noFill/>
        </p:spPr>
        <p:txBody>
          <a:bodyPr lIns="216000" tIns="180000" rIns="216000" bIns="216000">
            <a:noAutofit/>
          </a:bodyPr>
          <a:lstStyle>
            <a:lvl1pPr marL="304792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»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74121" indent="-173562" algn="l" rtl="0">
              <a:lnSpc>
                <a:spcPct val="100000"/>
              </a:lnSpc>
              <a:buClr>
                <a:schemeClr val="tx1"/>
              </a:buClr>
              <a:buSzPct val="100000"/>
              <a:buFont typeface="Calibri" panose="020F0502020204030204" pitchFamily="34" charset="0"/>
              <a:buChar char="­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1523962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2133547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2743131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6351"/>
            <a:ext cx="12192000" cy="505479"/>
          </a:xfrm>
          <a:prstGeom prst="rect">
            <a:avLst/>
          </a:prstGeom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5055" y="6356360"/>
            <a:ext cx="1626643" cy="487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B675EBE-C165-4FEE-A5A9-4C19F3CB68BE}" type="datetimeFigureOut">
              <a:rPr lang="he-IL" smtClean="0"/>
              <a:t>י"ח/אדר/תשפ"ה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4"/>
          </p:nvPr>
        </p:nvSpPr>
        <p:spPr>
          <a:xfrm>
            <a:off x="9448800" y="6453648"/>
            <a:ext cx="2743200" cy="365125"/>
          </a:xfrm>
        </p:spPr>
        <p:txBody>
          <a:bodyPr/>
          <a:lstStyle/>
          <a:p>
            <a:fld id="{1D467F50-F071-4455-AF75-5A95D8253A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238590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881747"/>
            <a:ext cx="12192000" cy="54746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240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1171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055" y="0"/>
            <a:ext cx="11101891" cy="1171576"/>
          </a:xfrm>
        </p:spPr>
        <p:txBody>
          <a:bodyPr>
            <a:normAutofit/>
          </a:bodyPr>
          <a:lstStyle>
            <a:lvl1pPr algn="l" rtl="0">
              <a:defRPr sz="3733" b="1">
                <a:solidFill>
                  <a:schemeClr val="bg1"/>
                </a:solidFill>
                <a:latin typeface="Century Gothic" panose="020B0502020202020204" pitchFamily="34" charset="0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545055" y="1473201"/>
            <a:ext cx="11101891" cy="4249868"/>
          </a:xfrm>
          <a:noFill/>
        </p:spPr>
        <p:txBody>
          <a:bodyPr lIns="216000" tIns="180000" rIns="216000" bIns="216000">
            <a:noAutofit/>
          </a:bodyPr>
          <a:lstStyle>
            <a:lvl1pPr marL="304792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»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74121" indent="-173562" algn="l" rtl="0">
              <a:lnSpc>
                <a:spcPct val="100000"/>
              </a:lnSpc>
              <a:buClr>
                <a:schemeClr val="tx1"/>
              </a:buClr>
              <a:buSzPct val="100000"/>
              <a:buFont typeface="Calibri" panose="020F0502020204030204" pitchFamily="34" charset="0"/>
              <a:buChar char="­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1523962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2133547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2743131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6351"/>
            <a:ext cx="12192000" cy="505479"/>
          </a:xfrm>
          <a:prstGeom prst="rect">
            <a:avLst/>
          </a:prstGeom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5055" y="6356360"/>
            <a:ext cx="1626643" cy="487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B675EBE-C165-4FEE-A5A9-4C19F3CB68BE}" type="datetimeFigureOut">
              <a:rPr lang="he-IL" smtClean="0"/>
              <a:t>י"ח/אדר/תשפ"ה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4"/>
          </p:nvPr>
        </p:nvSpPr>
        <p:spPr>
          <a:xfrm>
            <a:off x="9448800" y="6453648"/>
            <a:ext cx="2743200" cy="365125"/>
          </a:xfrm>
        </p:spPr>
        <p:txBody>
          <a:bodyPr/>
          <a:lstStyle/>
          <a:p>
            <a:fld id="{1D467F50-F071-4455-AF75-5A95D8253A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62202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881747"/>
            <a:ext cx="12192000" cy="54746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240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1171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055" y="0"/>
            <a:ext cx="11101891" cy="1171576"/>
          </a:xfrm>
        </p:spPr>
        <p:txBody>
          <a:bodyPr>
            <a:normAutofit/>
          </a:bodyPr>
          <a:lstStyle>
            <a:lvl1pPr algn="l" rtl="0">
              <a:defRPr sz="3733" b="1">
                <a:solidFill>
                  <a:schemeClr val="bg1"/>
                </a:solidFill>
                <a:latin typeface="Century Gothic" panose="020B0502020202020204" pitchFamily="34" charset="0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545055" y="1473201"/>
            <a:ext cx="11101891" cy="4249868"/>
          </a:xfrm>
          <a:noFill/>
        </p:spPr>
        <p:txBody>
          <a:bodyPr lIns="216000" tIns="180000" rIns="216000" bIns="216000">
            <a:noAutofit/>
          </a:bodyPr>
          <a:lstStyle>
            <a:lvl1pPr marL="304792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»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74121" indent="-173562" algn="l" rtl="0">
              <a:lnSpc>
                <a:spcPct val="100000"/>
              </a:lnSpc>
              <a:buClr>
                <a:schemeClr val="tx1"/>
              </a:buClr>
              <a:buSzPct val="100000"/>
              <a:buFont typeface="Calibri" panose="020F0502020204030204" pitchFamily="34" charset="0"/>
              <a:buChar char="­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1523962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2133547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2743131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6351"/>
            <a:ext cx="12192000" cy="505479"/>
          </a:xfrm>
          <a:prstGeom prst="rect">
            <a:avLst/>
          </a:prstGeom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5055" y="6356360"/>
            <a:ext cx="1626643" cy="487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B675EBE-C165-4FEE-A5A9-4C19F3CB68BE}" type="datetimeFigureOut">
              <a:rPr lang="he-IL" smtClean="0"/>
              <a:t>י"ח/אדר/תשפ"ה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4"/>
          </p:nvPr>
        </p:nvSpPr>
        <p:spPr>
          <a:xfrm>
            <a:off x="9448800" y="6453648"/>
            <a:ext cx="2743200" cy="365125"/>
          </a:xfrm>
        </p:spPr>
        <p:txBody>
          <a:bodyPr/>
          <a:lstStyle/>
          <a:p>
            <a:fld id="{1D467F50-F071-4455-AF75-5A95D8253A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75985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881747"/>
            <a:ext cx="12192000" cy="54746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240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1171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055" y="0"/>
            <a:ext cx="11101891" cy="1171576"/>
          </a:xfrm>
        </p:spPr>
        <p:txBody>
          <a:bodyPr>
            <a:normAutofit/>
          </a:bodyPr>
          <a:lstStyle>
            <a:lvl1pPr algn="l" rtl="0">
              <a:defRPr sz="3733" b="1">
                <a:solidFill>
                  <a:schemeClr val="bg1"/>
                </a:solidFill>
                <a:latin typeface="Century Gothic" panose="020B0502020202020204" pitchFamily="34" charset="0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545055" y="1473201"/>
            <a:ext cx="11101891" cy="4249868"/>
          </a:xfrm>
          <a:noFill/>
        </p:spPr>
        <p:txBody>
          <a:bodyPr lIns="216000" tIns="180000" rIns="216000" bIns="216000">
            <a:noAutofit/>
          </a:bodyPr>
          <a:lstStyle>
            <a:lvl1pPr marL="304792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»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74121" indent="-173562" algn="l" rtl="0">
              <a:lnSpc>
                <a:spcPct val="100000"/>
              </a:lnSpc>
              <a:buClr>
                <a:schemeClr val="tx1"/>
              </a:buClr>
              <a:buSzPct val="100000"/>
              <a:buFont typeface="Calibri" panose="020F0502020204030204" pitchFamily="34" charset="0"/>
              <a:buChar char="­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1523962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2133547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2743131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6351"/>
            <a:ext cx="12192000" cy="505479"/>
          </a:xfrm>
          <a:prstGeom prst="rect">
            <a:avLst/>
          </a:prstGeom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5055" y="6356360"/>
            <a:ext cx="1626643" cy="487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B675EBE-C165-4FEE-A5A9-4C19F3CB68BE}" type="datetimeFigureOut">
              <a:rPr lang="he-IL" smtClean="0"/>
              <a:t>י"ח/אדר/תשפ"ה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4"/>
          </p:nvPr>
        </p:nvSpPr>
        <p:spPr>
          <a:xfrm>
            <a:off x="9448800" y="6453648"/>
            <a:ext cx="2743200" cy="365125"/>
          </a:xfrm>
        </p:spPr>
        <p:txBody>
          <a:bodyPr/>
          <a:lstStyle/>
          <a:p>
            <a:fld id="{1D467F50-F071-4455-AF75-5A95D8253A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188634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881747"/>
            <a:ext cx="12192000" cy="54746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240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1171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055" y="0"/>
            <a:ext cx="11101891" cy="1171576"/>
          </a:xfrm>
        </p:spPr>
        <p:txBody>
          <a:bodyPr>
            <a:normAutofit/>
          </a:bodyPr>
          <a:lstStyle>
            <a:lvl1pPr algn="l" rtl="0">
              <a:defRPr sz="3733" b="1">
                <a:solidFill>
                  <a:schemeClr val="bg1"/>
                </a:solidFill>
                <a:latin typeface="Century Gothic" panose="020B0502020202020204" pitchFamily="34" charset="0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545055" y="1473201"/>
            <a:ext cx="11101891" cy="4249868"/>
          </a:xfrm>
          <a:noFill/>
        </p:spPr>
        <p:txBody>
          <a:bodyPr lIns="216000" tIns="180000" rIns="216000" bIns="216000">
            <a:noAutofit/>
          </a:bodyPr>
          <a:lstStyle>
            <a:lvl1pPr marL="304792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»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74121" indent="-173562" algn="l" rtl="0">
              <a:lnSpc>
                <a:spcPct val="100000"/>
              </a:lnSpc>
              <a:buClr>
                <a:schemeClr val="tx1"/>
              </a:buClr>
              <a:buSzPct val="100000"/>
              <a:buFont typeface="Calibri" panose="020F0502020204030204" pitchFamily="34" charset="0"/>
              <a:buChar char="­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1523962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2133547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2743131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6351"/>
            <a:ext cx="12192000" cy="505479"/>
          </a:xfrm>
          <a:prstGeom prst="rect">
            <a:avLst/>
          </a:prstGeom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5055" y="6356360"/>
            <a:ext cx="1626643" cy="487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B675EBE-C165-4FEE-A5A9-4C19F3CB68BE}" type="datetimeFigureOut">
              <a:rPr lang="he-IL" smtClean="0"/>
              <a:t>י"ח/אדר/תשפ"ה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4"/>
          </p:nvPr>
        </p:nvSpPr>
        <p:spPr>
          <a:xfrm>
            <a:off x="9448800" y="6453648"/>
            <a:ext cx="2743200" cy="365125"/>
          </a:xfrm>
        </p:spPr>
        <p:txBody>
          <a:bodyPr/>
          <a:lstStyle/>
          <a:p>
            <a:fld id="{1D467F50-F071-4455-AF75-5A95D8253A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203226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881747"/>
            <a:ext cx="12192000" cy="54746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240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1171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055" y="0"/>
            <a:ext cx="11101891" cy="1171576"/>
          </a:xfrm>
        </p:spPr>
        <p:txBody>
          <a:bodyPr>
            <a:normAutofit/>
          </a:bodyPr>
          <a:lstStyle>
            <a:lvl1pPr algn="l" rtl="0">
              <a:defRPr sz="3733" b="1">
                <a:solidFill>
                  <a:schemeClr val="bg1"/>
                </a:solidFill>
                <a:latin typeface="Century Gothic" panose="020B0502020202020204" pitchFamily="34" charset="0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545055" y="1473201"/>
            <a:ext cx="11101891" cy="4249868"/>
          </a:xfrm>
          <a:noFill/>
        </p:spPr>
        <p:txBody>
          <a:bodyPr lIns="216000" tIns="180000" rIns="216000" bIns="216000">
            <a:noAutofit/>
          </a:bodyPr>
          <a:lstStyle>
            <a:lvl1pPr marL="304792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»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74121" indent="-173562" algn="l" rtl="0">
              <a:lnSpc>
                <a:spcPct val="100000"/>
              </a:lnSpc>
              <a:buClr>
                <a:schemeClr val="tx1"/>
              </a:buClr>
              <a:buSzPct val="100000"/>
              <a:buFont typeface="Calibri" panose="020F0502020204030204" pitchFamily="34" charset="0"/>
              <a:buChar char="­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1523962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2133547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2743131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6351"/>
            <a:ext cx="12192000" cy="505479"/>
          </a:xfrm>
          <a:prstGeom prst="rect">
            <a:avLst/>
          </a:prstGeom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5055" y="6356360"/>
            <a:ext cx="1626643" cy="487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B675EBE-C165-4FEE-A5A9-4C19F3CB68BE}" type="datetimeFigureOut">
              <a:rPr lang="he-IL" smtClean="0"/>
              <a:t>י"ח/אדר/תשפ"ה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4"/>
          </p:nvPr>
        </p:nvSpPr>
        <p:spPr>
          <a:xfrm>
            <a:off x="9448800" y="6453648"/>
            <a:ext cx="2743200" cy="365125"/>
          </a:xfrm>
        </p:spPr>
        <p:txBody>
          <a:bodyPr/>
          <a:lstStyle/>
          <a:p>
            <a:fld id="{1D467F50-F071-4455-AF75-5A95D8253A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937954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881747"/>
            <a:ext cx="12192000" cy="54746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240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1171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055" y="0"/>
            <a:ext cx="11101891" cy="1171576"/>
          </a:xfrm>
        </p:spPr>
        <p:txBody>
          <a:bodyPr>
            <a:normAutofit/>
          </a:bodyPr>
          <a:lstStyle>
            <a:lvl1pPr algn="l" rtl="0">
              <a:defRPr sz="3733" b="1">
                <a:solidFill>
                  <a:schemeClr val="bg1"/>
                </a:solidFill>
                <a:latin typeface="Century Gothic" panose="020B0502020202020204" pitchFamily="34" charset="0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545055" y="1473201"/>
            <a:ext cx="11101891" cy="4249868"/>
          </a:xfrm>
          <a:noFill/>
        </p:spPr>
        <p:txBody>
          <a:bodyPr lIns="216000" tIns="180000" rIns="216000" bIns="216000">
            <a:noAutofit/>
          </a:bodyPr>
          <a:lstStyle>
            <a:lvl1pPr marL="304792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»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74121" indent="-173562" algn="l" rtl="0">
              <a:lnSpc>
                <a:spcPct val="100000"/>
              </a:lnSpc>
              <a:buClr>
                <a:schemeClr val="tx1"/>
              </a:buClr>
              <a:buSzPct val="100000"/>
              <a:buFont typeface="Calibri" panose="020F0502020204030204" pitchFamily="34" charset="0"/>
              <a:buChar char="­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1523962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2133547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2743131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6351"/>
            <a:ext cx="12192000" cy="505479"/>
          </a:xfrm>
          <a:prstGeom prst="rect">
            <a:avLst/>
          </a:prstGeom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5055" y="6356360"/>
            <a:ext cx="1626643" cy="487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B675EBE-C165-4FEE-A5A9-4C19F3CB68BE}" type="datetimeFigureOut">
              <a:rPr lang="he-IL" smtClean="0"/>
              <a:t>י"ח/אדר/תשפ"ה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4"/>
          </p:nvPr>
        </p:nvSpPr>
        <p:spPr>
          <a:xfrm>
            <a:off x="9448800" y="6453648"/>
            <a:ext cx="2743200" cy="365125"/>
          </a:xfrm>
        </p:spPr>
        <p:txBody>
          <a:bodyPr/>
          <a:lstStyle/>
          <a:p>
            <a:fld id="{1D467F50-F071-4455-AF75-5A95D8253A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545993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881747"/>
            <a:ext cx="12192000" cy="54746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240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1171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055" y="0"/>
            <a:ext cx="11101891" cy="1171576"/>
          </a:xfrm>
        </p:spPr>
        <p:txBody>
          <a:bodyPr>
            <a:normAutofit/>
          </a:bodyPr>
          <a:lstStyle>
            <a:lvl1pPr algn="l" rtl="0">
              <a:defRPr sz="3733" b="1">
                <a:solidFill>
                  <a:schemeClr val="bg1"/>
                </a:solidFill>
                <a:latin typeface="Century Gothic" panose="020B0502020202020204" pitchFamily="34" charset="0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545055" y="1473201"/>
            <a:ext cx="11101891" cy="4249868"/>
          </a:xfrm>
          <a:noFill/>
        </p:spPr>
        <p:txBody>
          <a:bodyPr lIns="216000" tIns="180000" rIns="216000" bIns="216000">
            <a:noAutofit/>
          </a:bodyPr>
          <a:lstStyle>
            <a:lvl1pPr marL="304792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»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74121" indent="-173562" algn="l" rtl="0">
              <a:lnSpc>
                <a:spcPct val="100000"/>
              </a:lnSpc>
              <a:buClr>
                <a:schemeClr val="tx1"/>
              </a:buClr>
              <a:buSzPct val="100000"/>
              <a:buFont typeface="Calibri" panose="020F0502020204030204" pitchFamily="34" charset="0"/>
              <a:buChar char="­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1523962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2133547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2743131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6351"/>
            <a:ext cx="12192000" cy="505479"/>
          </a:xfrm>
          <a:prstGeom prst="rect">
            <a:avLst/>
          </a:prstGeom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5055" y="6356360"/>
            <a:ext cx="1626643" cy="487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B675EBE-C165-4FEE-A5A9-4C19F3CB68BE}" type="datetimeFigureOut">
              <a:rPr lang="he-IL" smtClean="0"/>
              <a:t>י"ח/אדר/תשפ"ה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4"/>
          </p:nvPr>
        </p:nvSpPr>
        <p:spPr>
          <a:xfrm>
            <a:off x="9448800" y="6453648"/>
            <a:ext cx="2743200" cy="365125"/>
          </a:xfrm>
        </p:spPr>
        <p:txBody>
          <a:bodyPr/>
          <a:lstStyle/>
          <a:p>
            <a:fld id="{1D467F50-F071-4455-AF75-5A95D8253A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84729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881747"/>
            <a:ext cx="12192000" cy="54746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240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1171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055" y="0"/>
            <a:ext cx="11101891" cy="1171576"/>
          </a:xfrm>
        </p:spPr>
        <p:txBody>
          <a:bodyPr>
            <a:normAutofit/>
          </a:bodyPr>
          <a:lstStyle>
            <a:lvl1pPr algn="l" rtl="0">
              <a:defRPr sz="3733" b="1">
                <a:solidFill>
                  <a:schemeClr val="bg1"/>
                </a:solidFill>
                <a:latin typeface="Century Gothic" panose="020B0502020202020204" pitchFamily="34" charset="0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545055" y="1473201"/>
            <a:ext cx="11101891" cy="4249868"/>
          </a:xfrm>
          <a:noFill/>
        </p:spPr>
        <p:txBody>
          <a:bodyPr lIns="216000" tIns="180000" rIns="216000" bIns="216000">
            <a:noAutofit/>
          </a:bodyPr>
          <a:lstStyle>
            <a:lvl1pPr marL="304792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»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74121" indent="-173562" algn="l" rtl="0">
              <a:lnSpc>
                <a:spcPct val="100000"/>
              </a:lnSpc>
              <a:buClr>
                <a:schemeClr val="tx1"/>
              </a:buClr>
              <a:buSzPct val="100000"/>
              <a:buFont typeface="Calibri" panose="020F0502020204030204" pitchFamily="34" charset="0"/>
              <a:buChar char="­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1523962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2133547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2743131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6351"/>
            <a:ext cx="12192000" cy="505479"/>
          </a:xfrm>
          <a:prstGeom prst="rect">
            <a:avLst/>
          </a:prstGeom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5055" y="6356360"/>
            <a:ext cx="1626643" cy="487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B675EBE-C165-4FEE-A5A9-4C19F3CB68BE}" type="datetimeFigureOut">
              <a:rPr lang="he-IL" smtClean="0"/>
              <a:t>י"ח/אדר/תשפ"ה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4"/>
          </p:nvPr>
        </p:nvSpPr>
        <p:spPr>
          <a:xfrm>
            <a:off x="9448800" y="6453648"/>
            <a:ext cx="2743200" cy="365125"/>
          </a:xfrm>
        </p:spPr>
        <p:txBody>
          <a:bodyPr/>
          <a:lstStyle/>
          <a:p>
            <a:fld id="{1D467F50-F071-4455-AF75-5A95D8253A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346616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881747"/>
            <a:ext cx="12192000" cy="54746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240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1171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055" y="0"/>
            <a:ext cx="11101891" cy="1171576"/>
          </a:xfrm>
        </p:spPr>
        <p:txBody>
          <a:bodyPr>
            <a:normAutofit/>
          </a:bodyPr>
          <a:lstStyle>
            <a:lvl1pPr algn="l" rtl="0">
              <a:defRPr sz="3733" b="1">
                <a:solidFill>
                  <a:schemeClr val="bg1"/>
                </a:solidFill>
                <a:latin typeface="Century Gothic" panose="020B0502020202020204" pitchFamily="34" charset="0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545055" y="1473201"/>
            <a:ext cx="11101891" cy="4249868"/>
          </a:xfrm>
          <a:noFill/>
        </p:spPr>
        <p:txBody>
          <a:bodyPr lIns="216000" tIns="180000" rIns="216000" bIns="216000">
            <a:noAutofit/>
          </a:bodyPr>
          <a:lstStyle>
            <a:lvl1pPr marL="304792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»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74121" indent="-173562" algn="l" rtl="0">
              <a:lnSpc>
                <a:spcPct val="100000"/>
              </a:lnSpc>
              <a:buClr>
                <a:schemeClr val="tx1"/>
              </a:buClr>
              <a:buSzPct val="100000"/>
              <a:buFont typeface="Calibri" panose="020F0502020204030204" pitchFamily="34" charset="0"/>
              <a:buChar char="­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1523962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2133547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2743131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6351"/>
            <a:ext cx="12192000" cy="505479"/>
          </a:xfrm>
          <a:prstGeom prst="rect">
            <a:avLst/>
          </a:prstGeom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5055" y="6356360"/>
            <a:ext cx="1626643" cy="487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B675EBE-C165-4FEE-A5A9-4C19F3CB68BE}" type="datetimeFigureOut">
              <a:rPr lang="he-IL" smtClean="0"/>
              <a:t>י"ח/אדר/תשפ"ה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4"/>
          </p:nvPr>
        </p:nvSpPr>
        <p:spPr>
          <a:xfrm>
            <a:off x="9448800" y="6453648"/>
            <a:ext cx="2743200" cy="365125"/>
          </a:xfrm>
        </p:spPr>
        <p:txBody>
          <a:bodyPr/>
          <a:lstStyle/>
          <a:p>
            <a:fld id="{1D467F50-F071-4455-AF75-5A95D8253A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74236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881747"/>
            <a:ext cx="12192000" cy="54746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2400">
              <a:solidFill>
                <a:prstClr val="white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1171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055" y="0"/>
            <a:ext cx="11101891" cy="1171576"/>
          </a:xfrm>
        </p:spPr>
        <p:txBody>
          <a:bodyPr>
            <a:normAutofit/>
          </a:bodyPr>
          <a:lstStyle>
            <a:lvl1pPr algn="l" rtl="0">
              <a:defRPr sz="3733" b="1">
                <a:solidFill>
                  <a:schemeClr val="bg1"/>
                </a:solidFill>
                <a:latin typeface="Century Gothic" panose="020B0502020202020204" pitchFamily="34" charset="0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545055" y="1473201"/>
            <a:ext cx="11101891" cy="4249868"/>
          </a:xfrm>
          <a:noFill/>
        </p:spPr>
        <p:txBody>
          <a:bodyPr lIns="216000" tIns="180000" rIns="216000" bIns="216000">
            <a:noAutofit/>
          </a:bodyPr>
          <a:lstStyle>
            <a:lvl1pPr marL="304792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»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74121" indent="-173562" algn="l" rtl="0">
              <a:lnSpc>
                <a:spcPct val="100000"/>
              </a:lnSpc>
              <a:buClr>
                <a:schemeClr val="tx1"/>
              </a:buClr>
              <a:buSzPct val="100000"/>
              <a:buFont typeface="Calibri" panose="020F0502020204030204" pitchFamily="34" charset="0"/>
              <a:buChar char="­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1523962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2133547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2743131" indent="-304792" algn="l" rtl="0">
              <a:lnSpc>
                <a:spcPct val="100000"/>
              </a:lnSpc>
              <a:buClr>
                <a:srgbClr val="33CC33"/>
              </a:buClr>
              <a:buSzPct val="120000"/>
              <a:buFont typeface="Calibri" panose="020F0502020204030204" pitchFamily="34" charset="0"/>
              <a:buChar char="«"/>
              <a:defRPr sz="2667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6351"/>
            <a:ext cx="12192000" cy="505479"/>
          </a:xfrm>
          <a:prstGeom prst="rect">
            <a:avLst/>
          </a:prstGeom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5055" y="6356360"/>
            <a:ext cx="1626643" cy="487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B675EBE-C165-4FEE-A5A9-4C19F3CB68BE}" type="datetimeFigureOut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י"ח/אדר/תשפ"ה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4"/>
          </p:nvPr>
        </p:nvSpPr>
        <p:spPr>
          <a:xfrm>
            <a:off x="9448800" y="6453648"/>
            <a:ext cx="2743200" cy="365125"/>
          </a:xfrm>
        </p:spPr>
        <p:txBody>
          <a:bodyPr/>
          <a:lstStyle/>
          <a:p>
            <a:fld id="{1D467F50-F071-4455-AF75-5A95D8253AF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5264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25FE4-AF85-4C36-9BCE-D445D8E1E9D4}" type="datetimeFigureOut">
              <a:rPr lang="en-IL" smtClean="0"/>
              <a:t>18/03/2025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FA1BBA-C4B5-44D8-818A-881A3DC5450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75605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microsoft.com/office/2007/relationships/hdphoto" Target="../media/hdphoto4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/widsdatathon2020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066800" y="2006280"/>
            <a:ext cx="10058400" cy="146329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Course Summary (Rolling)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1B636E-5469-484C-B44E-6DE205BF36AE}"/>
              </a:ext>
            </a:extLst>
          </p:cNvPr>
          <p:cNvSpPr txBox="1"/>
          <p:nvPr/>
        </p:nvSpPr>
        <p:spPr>
          <a:xfrm>
            <a:off x="3449036" y="111755"/>
            <a:ext cx="5293928" cy="485598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rtl="0"/>
            <a:r>
              <a:rPr lang="en-US" sz="2800" b="1" dirty="0">
                <a:solidFill>
                  <a:schemeClr val="bg1"/>
                </a:solidFill>
              </a:rPr>
              <a:t>Predictive Modeling in Healthcare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0C0DA0D-74A3-4106-BE73-4705044F780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434" b="89623" l="7292" r="93750">
                        <a14:foregroundMark x1="89583" y1="59434" x2="89583" y2="59434"/>
                        <a14:foregroundMark x1="51042" y1="89623" x2="51042" y2="89623"/>
                        <a14:foregroundMark x1="25000" y1="89623" x2="25000" y2="89623"/>
                        <a14:foregroundMark x1="94792" y1="66038" x2="94792" y2="660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753221">
            <a:off x="11013149" y="361298"/>
            <a:ext cx="1106424" cy="12324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D79AE8-5DD2-4DFE-ADB0-402D235AAD7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195" b="89655" l="9524" r="89286">
                        <a14:foregroundMark x1="67857" y1="60920" x2="67857" y2="60920"/>
                        <a14:foregroundMark x1="73810" y1="83908" x2="73810" y2="839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00866" y="5598784"/>
            <a:ext cx="798654" cy="8218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C3D05D-7C84-46BB-989B-F7988375013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259" b="89815" l="7500" r="87500">
                        <a14:foregroundMark x1="32500" y1="76852" x2="32500" y2="76852"/>
                        <a14:foregroundMark x1="22500" y1="85185" x2="22500" y2="851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557766">
            <a:off x="338021" y="4271946"/>
            <a:ext cx="559236" cy="15082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3C2A661-B845-43C7-8D67-53EBD1C16955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email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783" b="89130" l="9000" r="92000">
                        <a14:foregroundMark x1="33000" y1="10870" x2="14000" y2="38043"/>
                        <a14:foregroundMark x1="14000" y1="38043" x2="71000" y2="79348"/>
                        <a14:foregroundMark x1="71000" y1="79348" x2="92000" y2="48913"/>
                        <a14:foregroundMark x1="92000" y1="48913" x2="62000" y2="28261"/>
                        <a14:foregroundMark x1="62000" y1="28261" x2="30000" y2="28261"/>
                        <a14:foregroundMark x1="30000" y1="28261" x2="30000" y2="3043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4273361">
            <a:off x="24305" y="5424260"/>
            <a:ext cx="1258153" cy="11708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0731A53-3ADE-4730-AB19-A53A75CC1B5C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email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8989" b="89888" l="9677" r="89516">
                        <a14:foregroundMark x1="12097" y1="85393" x2="12097" y2="853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10115936" y="0"/>
            <a:ext cx="1298680" cy="93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09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9486-893E-4B1E-9312-D457E1FE0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General Intro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19BFD-ED9E-43A5-B8AC-808A63DE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179859"/>
            <a:ext cx="10073769" cy="4337673"/>
          </a:xfrm>
        </p:spPr>
        <p:txBody>
          <a:bodyPr vert="horz" lIns="91440" tIns="45720" rIns="91440" bIns="45720" rtlCol="1">
            <a:normAutofit/>
          </a:bodyPr>
          <a:lstStyle/>
          <a:p>
            <a:r>
              <a:rPr lang="en-US" dirty="0"/>
              <a:t>The purpose of this project is mimicking the “real-life” experience of developing a perdition model for healthcare purposes</a:t>
            </a:r>
          </a:p>
          <a:p>
            <a:r>
              <a:rPr lang="en-US" dirty="0"/>
              <a:t>We will practice the development of a mortality predictor for intensive care units (ICUs)</a:t>
            </a:r>
          </a:p>
          <a:p>
            <a:r>
              <a:rPr lang="en-US" dirty="0"/>
              <a:t>The data we will use will be taken from </a:t>
            </a:r>
            <a:r>
              <a:rPr lang="en-US" dirty="0">
                <a:hlinkClick r:id="rId2"/>
              </a:rPr>
              <a:t>this</a:t>
            </a:r>
            <a:r>
              <a:rPr lang="en-US" dirty="0"/>
              <a:t> Kaggle challenge  </a:t>
            </a:r>
          </a:p>
          <a:p>
            <a:r>
              <a:rPr lang="en-US" dirty="0"/>
              <a:t>Potential uses of ICU mortality predictors:</a:t>
            </a:r>
          </a:p>
          <a:p>
            <a:pPr lvl="1"/>
            <a:r>
              <a:rPr lang="en-US" dirty="0"/>
              <a:t>Decide who needs to be admitted to the ICU</a:t>
            </a:r>
          </a:p>
          <a:p>
            <a:pPr lvl="1"/>
            <a:r>
              <a:rPr lang="en-US" dirty="0"/>
              <a:t>Assess the extent of the intervention measures that should be used</a:t>
            </a:r>
          </a:p>
          <a:p>
            <a:pPr lvl="1"/>
            <a:r>
              <a:rPr lang="en-US" dirty="0"/>
              <a:t>Prepare families towards end-of-life decisions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122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9486-893E-4B1E-9312-D457E1FE0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General Intro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19BFD-ED9E-43A5-B8AC-808A63DE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2332" y="2033082"/>
            <a:ext cx="10522221" cy="4725938"/>
          </a:xfrm>
        </p:spPr>
        <p:txBody>
          <a:bodyPr vert="horz" lIns="91440" tIns="45720" rIns="91440" bIns="45720" rtlCol="1">
            <a:normAutofit fontScale="92500" lnSpcReduction="10000"/>
          </a:bodyPr>
          <a:lstStyle/>
          <a:p>
            <a:r>
              <a:rPr lang="en-US" dirty="0"/>
              <a:t>We will not evaluate your code, but you will be asked to submit it (you can use whatever coding language you prefer)</a:t>
            </a:r>
          </a:p>
          <a:p>
            <a:r>
              <a:rPr lang="en-US" dirty="0"/>
              <a:t>We will ask to see and evaluate how you present your development outputs, as you would have done for your business client (the head of the ICU in this case) </a:t>
            </a:r>
          </a:p>
          <a:p>
            <a:r>
              <a:rPr lang="en-US" dirty="0"/>
              <a:t>The various outputs will reflect the subjects we will touch upon during the course</a:t>
            </a:r>
          </a:p>
          <a:p>
            <a:r>
              <a:rPr lang="en-US" dirty="0"/>
              <a:t>This PPT presentation will serve as a template that you will gradually fill with your project outputs during the course</a:t>
            </a:r>
          </a:p>
          <a:p>
            <a:r>
              <a:rPr lang="en-US" dirty="0"/>
              <a:t>You can work in groups of 5 students</a:t>
            </a:r>
          </a:p>
          <a:p>
            <a:r>
              <a:rPr lang="en-US" dirty="0"/>
              <a:t>In the final lessons, we will ask different groups to present various parts of your project to the class</a:t>
            </a:r>
          </a:p>
        </p:txBody>
      </p:sp>
    </p:spTree>
    <p:extLst>
      <p:ext uri="{BB962C8B-B14F-4D97-AF65-F5344CB8AC3E}">
        <p14:creationId xmlns:p14="http://schemas.microsoft.com/office/powerpoint/2010/main" val="2982600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7E48C-5DCA-4B7C-AF9C-A1424C08D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9623292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dirty="0">
                <a:solidFill>
                  <a:srgbClr val="0070C0"/>
                </a:solidFill>
              </a:rPr>
              <a:t>First meeting with the head of the ICU</a:t>
            </a:r>
          </a:p>
        </p:txBody>
      </p:sp>
    </p:spTree>
    <p:extLst>
      <p:ext uri="{BB962C8B-B14F-4D97-AF65-F5344CB8AC3E}">
        <p14:creationId xmlns:p14="http://schemas.microsoft.com/office/powerpoint/2010/main" val="2330067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9486-893E-4B1E-9312-D457E1FE0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To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19BFD-ED9E-43A5-B8AC-808A63DE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305456"/>
            <a:ext cx="10355871" cy="4319080"/>
          </a:xfrm>
        </p:spPr>
        <p:txBody>
          <a:bodyPr vert="horz" lIns="91440" tIns="45720" rIns="91440" bIns="45720" rtlCol="1">
            <a:normAutofit/>
          </a:bodyPr>
          <a:lstStyle/>
          <a:p>
            <a:r>
              <a:rPr lang="en-US" dirty="0"/>
              <a:t>This is your first meeting with the Dr. Jane Smith, the head of the ICU</a:t>
            </a:r>
          </a:p>
          <a:p>
            <a:r>
              <a:rPr lang="en-US" dirty="0"/>
              <a:t>She asked one of the hospital’s analysts to give you access to the retrospective EHR data in her unit, and she is asking you what you can do with it</a:t>
            </a:r>
          </a:p>
          <a:p>
            <a:r>
              <a:rPr lang="en-US" dirty="0"/>
              <a:t>This is your opportunity to:</a:t>
            </a:r>
          </a:p>
          <a:p>
            <a:pPr lvl="1"/>
            <a:r>
              <a:rPr lang="en-US" dirty="0"/>
              <a:t>Explain a bit about the prediction model you will develop for her</a:t>
            </a:r>
          </a:p>
          <a:p>
            <a:pPr lvl="1"/>
            <a:r>
              <a:rPr lang="en-US" dirty="0"/>
              <a:t>Explain what this model can be used for (and what it can’t be used for)</a:t>
            </a:r>
          </a:p>
          <a:p>
            <a:pPr lvl="1"/>
            <a:r>
              <a:rPr lang="en-US" dirty="0"/>
              <a:t>Show general descriptives of the data set in order to make sure she finds it reliable </a:t>
            </a:r>
          </a:p>
        </p:txBody>
      </p:sp>
    </p:spTree>
    <p:extLst>
      <p:ext uri="{BB962C8B-B14F-4D97-AF65-F5344CB8AC3E}">
        <p14:creationId xmlns:p14="http://schemas.microsoft.com/office/powerpoint/2010/main" val="2215179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7E48C-5DCA-4B7C-AF9C-A1424C08D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9623292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dirty="0">
                <a:solidFill>
                  <a:srgbClr val="0070C0"/>
                </a:solidFill>
              </a:rPr>
              <a:t>Second meeting: show first modeling results</a:t>
            </a:r>
          </a:p>
        </p:txBody>
      </p:sp>
    </p:spTree>
    <p:extLst>
      <p:ext uri="{BB962C8B-B14F-4D97-AF65-F5344CB8AC3E}">
        <p14:creationId xmlns:p14="http://schemas.microsoft.com/office/powerpoint/2010/main" val="980823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9486-893E-4B1E-9312-D457E1FE0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To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19BFD-ED9E-43A5-B8AC-808A63DE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81720"/>
            <a:ext cx="10813071" cy="416668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dirty="0"/>
              <a:t>This is your second meeting with the Dr. Jane Smith, the head of the ICU</a:t>
            </a:r>
          </a:p>
          <a:p>
            <a:r>
              <a:rPr lang="en-US" dirty="0"/>
              <a:t>Show her your first modeling results. Present 2-3 modeling alternatives (preferably from different model families).</a:t>
            </a:r>
          </a:p>
          <a:p>
            <a:r>
              <a:rPr lang="en-US" dirty="0"/>
              <a:t>Prepare slides that describe the general idea of each model you chose to implement</a:t>
            </a:r>
          </a:p>
          <a:p>
            <a:r>
              <a:rPr lang="en-US" dirty="0"/>
              <a:t>Explain the pros and cons of deciding to implement each of these model alternatives</a:t>
            </a:r>
          </a:p>
          <a:p>
            <a:r>
              <a:rPr lang="en-US" dirty="0"/>
              <a:t>Show the performance of each model (use graphs and tables)</a:t>
            </a:r>
          </a:p>
          <a:p>
            <a:r>
              <a:rPr lang="en-US" dirty="0"/>
              <a:t>Show potential intervention cutoffs, and the practical applications of choosing each cutoff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32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7E48C-5DCA-4B7C-AF9C-A1424C08D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9623292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dirty="0">
                <a:solidFill>
                  <a:srgbClr val="0070C0"/>
                </a:solidFill>
              </a:rPr>
              <a:t>Third meeting:</a:t>
            </a:r>
            <a:br>
              <a:rPr lang="en-US" sz="7200" dirty="0">
                <a:solidFill>
                  <a:srgbClr val="0070C0"/>
                </a:solidFill>
              </a:rPr>
            </a:br>
            <a:r>
              <a:rPr lang="en-US" sz="7200" dirty="0">
                <a:solidFill>
                  <a:srgbClr val="0070C0"/>
                </a:solidFill>
              </a:rPr>
              <a:t>explainability</a:t>
            </a:r>
          </a:p>
        </p:txBody>
      </p:sp>
    </p:spTree>
    <p:extLst>
      <p:ext uri="{BB962C8B-B14F-4D97-AF65-F5344CB8AC3E}">
        <p14:creationId xmlns:p14="http://schemas.microsoft.com/office/powerpoint/2010/main" val="445327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9486-893E-4B1E-9312-D457E1FE0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>
                <a:solidFill>
                  <a:srgbClr val="0070C0"/>
                </a:solidFill>
              </a:rPr>
              <a:t>To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19BFD-ED9E-43A5-B8AC-808A63DE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95500"/>
            <a:ext cx="10193338" cy="415289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Use various methods that were presented to give a good overview of model explainability:</a:t>
            </a:r>
          </a:p>
          <a:p>
            <a:pPr lvl="1"/>
            <a:r>
              <a:rPr lang="en-US" dirty="0"/>
              <a:t>Present several global explainability alternative</a:t>
            </a:r>
          </a:p>
          <a:p>
            <a:pPr lvl="1"/>
            <a:r>
              <a:rPr lang="en-US" dirty="0"/>
              <a:t>Present several local explainability alternative</a:t>
            </a:r>
          </a:p>
          <a:p>
            <a:r>
              <a:rPr lang="en-US" dirty="0"/>
              <a:t>Compare the variables in your model compared to existing model alternatives such as the APACHE score (its outputs are in the data)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148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7E48C-5DCA-4B7C-AF9C-A1424C08D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9623292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dirty="0">
                <a:solidFill>
                  <a:srgbClr val="0070C0"/>
                </a:solidFill>
              </a:rPr>
              <a:t>Fourth meeting:</a:t>
            </a:r>
            <a:br>
              <a:rPr lang="en-US" sz="7200" dirty="0">
                <a:solidFill>
                  <a:srgbClr val="0070C0"/>
                </a:solidFill>
              </a:rPr>
            </a:br>
            <a:r>
              <a:rPr lang="en-US" sz="7200" dirty="0">
                <a:solidFill>
                  <a:srgbClr val="0070C0"/>
                </a:solidFill>
              </a:rPr>
              <a:t>missing data</a:t>
            </a:r>
          </a:p>
        </p:txBody>
      </p:sp>
    </p:spTree>
    <p:extLst>
      <p:ext uri="{BB962C8B-B14F-4D97-AF65-F5344CB8AC3E}">
        <p14:creationId xmlns:p14="http://schemas.microsoft.com/office/powerpoint/2010/main" val="152373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9486-893E-4B1E-9312-D457E1FE0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>
                <a:solidFill>
                  <a:srgbClr val="0070C0"/>
                </a:solidFill>
              </a:rPr>
              <a:t>To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19BFD-ED9E-43A5-B8AC-808A63DE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971675"/>
            <a:ext cx="10431463" cy="457199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Explain how you dealt with missing data</a:t>
            </a:r>
          </a:p>
          <a:p>
            <a:r>
              <a:rPr lang="en-US" dirty="0"/>
              <a:t>Present how the performance is affected from different alternatives:</a:t>
            </a:r>
          </a:p>
          <a:p>
            <a:pPr lvl="1"/>
            <a:r>
              <a:rPr lang="en-US" dirty="0"/>
              <a:t>Complete case analysis </a:t>
            </a:r>
          </a:p>
          <a:p>
            <a:pPr lvl="1"/>
            <a:r>
              <a:rPr lang="en-US" dirty="0"/>
              <a:t>Keeping the missing values and using models that can use them as inputs</a:t>
            </a:r>
          </a:p>
          <a:p>
            <a:pPr lvl="1"/>
            <a:r>
              <a:rPr lang="en-US" dirty="0"/>
              <a:t>Impute with a “missing” category</a:t>
            </a:r>
          </a:p>
          <a:p>
            <a:pPr lvl="1"/>
            <a:r>
              <a:rPr lang="en-US" dirty="0"/>
              <a:t>Various imputing alternatives (at least one of these should be multiple imputation)</a:t>
            </a:r>
          </a:p>
          <a:p>
            <a:r>
              <a:rPr lang="en-US" dirty="0"/>
              <a:t>Give examples to specific values that were imputed so that Dr. Smith can give you some input if they seem medically reasonable</a:t>
            </a:r>
          </a:p>
        </p:txBody>
      </p:sp>
    </p:spTree>
    <p:extLst>
      <p:ext uri="{BB962C8B-B14F-4D97-AF65-F5344CB8AC3E}">
        <p14:creationId xmlns:p14="http://schemas.microsoft.com/office/powerpoint/2010/main" val="3045430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7E48C-5DCA-4B7C-AF9C-A1424C08D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9623292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dirty="0">
                <a:solidFill>
                  <a:srgbClr val="0070C0"/>
                </a:solidFill>
              </a:rPr>
              <a:t>Fifth meeting:</a:t>
            </a:r>
            <a:br>
              <a:rPr lang="en-US" sz="7200" dirty="0">
                <a:solidFill>
                  <a:srgbClr val="0070C0"/>
                </a:solidFill>
              </a:rPr>
            </a:br>
            <a:r>
              <a:rPr lang="en-US" sz="7200" dirty="0">
                <a:solidFill>
                  <a:srgbClr val="0070C0"/>
                </a:solidFill>
              </a:rPr>
              <a:t>describe the uncertainty in your results</a:t>
            </a:r>
          </a:p>
        </p:txBody>
      </p:sp>
    </p:spTree>
    <p:extLst>
      <p:ext uri="{BB962C8B-B14F-4D97-AF65-F5344CB8AC3E}">
        <p14:creationId xmlns:p14="http://schemas.microsoft.com/office/powerpoint/2010/main" val="1708144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9486-893E-4B1E-9312-D457E1FE0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To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19BFD-ED9E-43A5-B8AC-808A63DE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38350"/>
            <a:ext cx="10107613" cy="436693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Add uncertainty measures to the global performance measures using bootstraps</a:t>
            </a:r>
            <a:endParaRPr lang="he-IL" dirty="0"/>
          </a:p>
          <a:p>
            <a:pPr>
              <a:lnSpc>
                <a:spcPct val="90000"/>
              </a:lnSpc>
            </a:pPr>
            <a:r>
              <a:rPr lang="en-US" dirty="0"/>
              <a:t>Explain the meaning of the uncertainty measures in terms that Dr. Smith can understand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100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7E48C-5DCA-4B7C-AF9C-A1424C08D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9623292" cy="332958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7200" dirty="0">
                <a:solidFill>
                  <a:srgbClr val="0070C0"/>
                </a:solidFill>
              </a:rPr>
              <a:t>Sixth meeting:</a:t>
            </a:r>
            <a:br>
              <a:rPr lang="en-US" sz="7200" dirty="0">
                <a:solidFill>
                  <a:srgbClr val="0070C0"/>
                </a:solidFill>
              </a:rPr>
            </a:br>
            <a:r>
              <a:rPr lang="en-US" sz="7200" dirty="0">
                <a:solidFill>
                  <a:srgbClr val="0070C0"/>
                </a:solidFill>
              </a:rPr>
              <a:t>discuss potential unfairness in the model and how you addressed it</a:t>
            </a:r>
          </a:p>
        </p:txBody>
      </p:sp>
    </p:spTree>
    <p:extLst>
      <p:ext uri="{BB962C8B-B14F-4D97-AF65-F5344CB8AC3E}">
        <p14:creationId xmlns:p14="http://schemas.microsoft.com/office/powerpoint/2010/main" val="161427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9486-893E-4B1E-9312-D457E1FE0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To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19BFD-ED9E-43A5-B8AC-808A63DE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962150"/>
            <a:ext cx="10231438" cy="444313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Explain general considerations of potential fairness issues with regards to the mortality predictor (try to present it in a tangible manner that could be perceived and understood by lay people)</a:t>
            </a:r>
          </a:p>
          <a:p>
            <a:r>
              <a:rPr lang="en-US" dirty="0"/>
              <a:t>Consider the following protected variables: age, gender, ethnicity, which hospital the patient was admitted to (potentially proxy of SES?) </a:t>
            </a:r>
          </a:p>
          <a:p>
            <a:r>
              <a:rPr lang="en-US" dirty="0"/>
              <a:t>Present performance measures in various subgroups (if you can, try to present the performance for groups of intersecting variables)</a:t>
            </a:r>
          </a:p>
          <a:p>
            <a:r>
              <a:rPr lang="en-US" dirty="0"/>
              <a:t>Suggest approaches to dealing with potential unfairness (if you can, try to implement some of them)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405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15C919-6FAA-4351-BD4B-4A225F17A0C2}"/>
              </a:ext>
            </a:extLst>
          </p:cNvPr>
          <p:cNvSpPr txBox="1"/>
          <p:nvPr/>
        </p:nvSpPr>
        <p:spPr>
          <a:xfrm>
            <a:off x="1601512" y="2799242"/>
            <a:ext cx="8525924" cy="1259515"/>
          </a:xfrm>
          <a:prstGeom prst="rect">
            <a:avLst/>
          </a:prstGeom>
        </p:spPr>
        <p:txBody>
          <a:bodyPr vert="horz" lIns="91440" tIns="45720" rIns="91440" bIns="45720" rtlCol="1" anchor="ctr">
            <a:normAutofit fontScale="92500" lnSpcReduction="1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b="1" dirty="0"/>
              <a:t>Good Luck!</a:t>
            </a:r>
          </a:p>
        </p:txBody>
      </p:sp>
    </p:spTree>
    <p:extLst>
      <p:ext uri="{BB962C8B-B14F-4D97-AF65-F5344CB8AC3E}">
        <p14:creationId xmlns:p14="http://schemas.microsoft.com/office/powerpoint/2010/main" val="2838513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1178</TotalTime>
  <Words>722</Words>
  <Application>Microsoft Office PowerPoint</Application>
  <PresentationFormat>Widescreen</PresentationFormat>
  <Paragraphs>59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Century Gothic</vt:lpstr>
      <vt:lpstr>Office Theme</vt:lpstr>
      <vt:lpstr>Course Summary (Rolling) Project</vt:lpstr>
      <vt:lpstr>General Intro (1)</vt:lpstr>
      <vt:lpstr>General Intro (2)</vt:lpstr>
      <vt:lpstr>First meeting with the head of the ICU</vt:lpstr>
      <vt:lpstr>To Do</vt:lpstr>
      <vt:lpstr>Second meeting: show first modeling results</vt:lpstr>
      <vt:lpstr>To Do</vt:lpstr>
      <vt:lpstr>Third meeting: explainability</vt:lpstr>
      <vt:lpstr>To Do</vt:lpstr>
      <vt:lpstr>Fourth meeting: missing data</vt:lpstr>
      <vt:lpstr>To Do</vt:lpstr>
      <vt:lpstr>Fifth meeting: describe the uncertainty in your results</vt:lpstr>
      <vt:lpstr>To Do</vt:lpstr>
      <vt:lpstr>Sixth meeting: discuss potential unfairness in the model and how you addressed it</vt:lpstr>
      <vt:lpstr>To Do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</dc:title>
  <dc:creator>נועם ברדה</dc:creator>
  <cp:lastModifiedBy>נעה דגן</cp:lastModifiedBy>
  <cp:revision>104</cp:revision>
  <dcterms:created xsi:type="dcterms:W3CDTF">2022-02-21T10:56:26Z</dcterms:created>
  <dcterms:modified xsi:type="dcterms:W3CDTF">2025-03-18T06:16:44Z</dcterms:modified>
</cp:coreProperties>
</file>